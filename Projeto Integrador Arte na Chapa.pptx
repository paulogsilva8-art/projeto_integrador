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Raleway" charset="1" panose="00000000000000000000"/>
      <p:regular r:id="rId24"/>
    </p:embeddedFont>
    <p:embeddedFont>
      <p:font typeface="Raleway Bold" charset="1" panose="00000000000000000000"/>
      <p:regular r:id="rId25"/>
    </p:embeddedFont>
    <p:embeddedFont>
      <p:font typeface="Raleway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Paulo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Paulo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Vitor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Vitor hugo </a:t>
            </a:r>
          </a:p>
          <a:p>
            <a:r>
              <a:rPr lang="en-US"/>
              <a:t>nós escolhemos essas referência porque achamos que eles representam o que o nosso site precisa, com uma organização visual limpa, moderna e bem estruturada.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Lorelainy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Maria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maria cecilia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www.canva.com/design/DAHKCFj0dFY/PYd_1Jxo8bs3CWnaQL2A7g/edit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230757"/>
            <a:ext cx="3565570" cy="10748514"/>
          </a:xfrm>
          <a:prstGeom prst="rect">
            <a:avLst/>
          </a:prstGeom>
          <a:solidFill>
            <a:srgbClr val="B30000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5077970" y="1742957"/>
            <a:ext cx="12181330" cy="7515343"/>
            <a:chOff x="0" y="0"/>
            <a:chExt cx="16241773" cy="1002045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511507"/>
              <a:ext cx="16241773" cy="2799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840"/>
                </a:lnSpc>
              </a:pPr>
              <a:r>
                <a:rPr lang="en-US" sz="14400">
                  <a:solidFill>
                    <a:srgbClr val="B30000"/>
                  </a:solidFill>
                  <a:latin typeface="Raleway"/>
                  <a:ea typeface="Raleway"/>
                  <a:cs typeface="Raleway"/>
                  <a:sym typeface="Raleway"/>
                </a:rPr>
                <a:t>Arte na Chapa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965293" y="-66675"/>
              <a:ext cx="14276480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19"/>
                </a:lnSpc>
              </a:pPr>
              <a:r>
                <a:rPr lang="en-US" b="true" sz="2800" spc="35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PROJETO INTEGRADOR 2ªSPRINT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965293" y="7407009"/>
              <a:ext cx="14276480" cy="2613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19"/>
                </a:lnSpc>
              </a:pPr>
              <a:r>
                <a:rPr lang="en-US" sz="2799" spc="559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POR: LORELAINY MARIANO</a:t>
              </a:r>
            </a:p>
            <a:p>
              <a:pPr algn="r">
                <a:lnSpc>
                  <a:spcPts val="3919"/>
                </a:lnSpc>
              </a:pPr>
              <a:r>
                <a:rPr lang="en-US" sz="2799" spc="559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MARIA CECÍLIA ADORNO</a:t>
              </a:r>
            </a:p>
            <a:p>
              <a:pPr algn="r">
                <a:lnSpc>
                  <a:spcPts val="3919"/>
                </a:lnSpc>
              </a:pPr>
              <a:r>
                <a:rPr lang="en-US" sz="2799" spc="559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PAULO GUSTAVO LAURINDO</a:t>
              </a:r>
            </a:p>
            <a:p>
              <a:pPr algn="r">
                <a:lnSpc>
                  <a:spcPts val="3919"/>
                </a:lnSpc>
              </a:pPr>
              <a:r>
                <a:rPr lang="en-US" sz="2800" spc="56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VITOR HUGO FREITAS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65547" y="1028700"/>
            <a:ext cx="1793753" cy="1793753"/>
          </a:xfrm>
          <a:custGeom>
            <a:avLst/>
            <a:gdLst/>
            <a:ahLst/>
            <a:cxnLst/>
            <a:rect r="r" b="b" t="t" l="l"/>
            <a:pathLst>
              <a:path h="1793753" w="1793753">
                <a:moveTo>
                  <a:pt x="0" y="0"/>
                </a:moveTo>
                <a:lnTo>
                  <a:pt x="1793753" y="0"/>
                </a:lnTo>
                <a:lnTo>
                  <a:pt x="1793753" y="1793753"/>
                </a:lnTo>
                <a:lnTo>
                  <a:pt x="0" y="1793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35358" y="0"/>
            <a:ext cx="4152642" cy="3607267"/>
          </a:xfrm>
          <a:custGeom>
            <a:avLst/>
            <a:gdLst/>
            <a:ahLst/>
            <a:cxnLst/>
            <a:rect r="r" b="b" t="t" l="l"/>
            <a:pathLst>
              <a:path h="3607267" w="4152642">
                <a:moveTo>
                  <a:pt x="0" y="0"/>
                </a:moveTo>
                <a:lnTo>
                  <a:pt x="4152642" y="0"/>
                </a:lnTo>
                <a:lnTo>
                  <a:pt x="4152642" y="3607267"/>
                </a:lnTo>
                <a:lnTo>
                  <a:pt x="0" y="3607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7020156"/>
            <a:ext cx="7321121" cy="2401524"/>
            <a:chOff x="0" y="0"/>
            <a:chExt cx="9761494" cy="320203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9761494" cy="1531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b="true" sz="3600" spc="126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2ª PARTE - PROGRAMAÇÃO HTML CSS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70318"/>
              <a:ext cx="9346821" cy="1431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49"/>
                </a:lnSpc>
              </a:pPr>
              <a:r>
                <a:rPr lang="en-US" sz="3399" i="true" spc="118">
                  <a:solidFill>
                    <a:srgbClr val="000000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Mudanças antes x depois do CSS</a:t>
              </a:r>
            </a:p>
            <a:p>
              <a:pPr algn="l">
                <a:lnSpc>
                  <a:spcPts val="4250"/>
                </a:lnSpc>
              </a:pPr>
              <a:r>
                <a:rPr lang="en-US" sz="3400" i="true" spc="119">
                  <a:solidFill>
                    <a:srgbClr val="000000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Wireframe de média resolução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904875"/>
            <a:ext cx="1257362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17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Tópicos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499816"/>
            <a:ext cx="7321121" cy="3963624"/>
            <a:chOff x="0" y="0"/>
            <a:chExt cx="9761494" cy="528483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9761494" cy="769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b="true" sz="3600" spc="126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1ª PARTE - DESIGN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08318"/>
              <a:ext cx="9251127" cy="4276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49"/>
                </a:lnSpc>
              </a:pPr>
              <a:r>
                <a:rPr lang="en-US" sz="3399" i="true" spc="118">
                  <a:solidFill>
                    <a:srgbClr val="000000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Nome do projeto</a:t>
              </a:r>
            </a:p>
            <a:p>
              <a:pPr algn="l">
                <a:lnSpc>
                  <a:spcPts val="4249"/>
                </a:lnSpc>
              </a:pPr>
              <a:r>
                <a:rPr lang="en-US" sz="3399" i="true" spc="118">
                  <a:solidFill>
                    <a:srgbClr val="000000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Briefing inicial</a:t>
              </a:r>
            </a:p>
            <a:p>
              <a:pPr algn="l">
                <a:lnSpc>
                  <a:spcPts val="4249"/>
                </a:lnSpc>
              </a:pPr>
              <a:r>
                <a:rPr lang="en-US" sz="3399" i="true" spc="118">
                  <a:solidFill>
                    <a:srgbClr val="000000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Problema a ser resolvido</a:t>
              </a:r>
            </a:p>
            <a:p>
              <a:pPr algn="l">
                <a:lnSpc>
                  <a:spcPts val="4249"/>
                </a:lnSpc>
              </a:pPr>
              <a:r>
                <a:rPr lang="en-US" sz="3399" i="true" spc="118">
                  <a:solidFill>
                    <a:srgbClr val="000000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Diferencial do projeto</a:t>
              </a:r>
            </a:p>
            <a:p>
              <a:pPr algn="l">
                <a:lnSpc>
                  <a:spcPts val="4249"/>
                </a:lnSpc>
              </a:pPr>
              <a:r>
                <a:rPr lang="en-US" sz="3399" i="true" spc="118">
                  <a:solidFill>
                    <a:srgbClr val="000000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Moodboard</a:t>
              </a:r>
            </a:p>
            <a:p>
              <a:pPr algn="l">
                <a:lnSpc>
                  <a:spcPts val="4249"/>
                </a:lnSpc>
              </a:pPr>
              <a:r>
                <a:rPr lang="en-US" sz="3399" i="true" spc="118">
                  <a:solidFill>
                    <a:srgbClr val="000000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Processo e mudanças 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04334" y="0"/>
            <a:ext cx="7583666" cy="10287000"/>
          </a:xfrm>
          <a:custGeom>
            <a:avLst/>
            <a:gdLst/>
            <a:ahLst/>
            <a:cxnLst/>
            <a:rect r="r" b="b" t="t" l="l"/>
            <a:pathLst>
              <a:path h="10287000" w="7583666">
                <a:moveTo>
                  <a:pt x="0" y="0"/>
                </a:moveTo>
                <a:lnTo>
                  <a:pt x="7583666" y="0"/>
                </a:lnTo>
                <a:lnTo>
                  <a:pt x="758366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17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1028700" y="5724008"/>
            <a:ext cx="8065935" cy="0"/>
          </a:xfrm>
          <a:prstGeom prst="line">
            <a:avLst/>
          </a:prstGeom>
          <a:ln cap="flat" w="38100">
            <a:solidFill>
              <a:srgbClr val="CCCCC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704334" y="0"/>
            <a:ext cx="7583666" cy="10287000"/>
            <a:chOff x="0" y="0"/>
            <a:chExt cx="1997344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734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97344">
                  <a:moveTo>
                    <a:pt x="0" y="0"/>
                  </a:moveTo>
                  <a:lnTo>
                    <a:pt x="1997344" y="0"/>
                  </a:lnTo>
                  <a:lnTo>
                    <a:pt x="19973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997344" cy="2795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3313626"/>
            <a:ext cx="8633316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0"/>
              </a:lnSpc>
            </a:pPr>
            <a:r>
              <a:rPr lang="en-US" b="true" sz="70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1ª PARTE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556760"/>
            <a:ext cx="8633316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3600" spc="126">
                <a:solidFill>
                  <a:srgbClr val="BD2640"/>
                </a:solidFill>
                <a:latin typeface="Raleway Bold"/>
                <a:ea typeface="Raleway Bold"/>
                <a:cs typeface="Raleway Bold"/>
                <a:sym typeface="Raleway Bold"/>
              </a:rPr>
              <a:t>DESIGN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209266"/>
            <a:ext cx="7604616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1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Arte na chapa</a:t>
            </a:r>
          </a:p>
          <a:p>
            <a:pPr algn="l">
              <a:lnSpc>
                <a:spcPts val="4500"/>
              </a:lnSpc>
            </a:pPr>
            <a:r>
              <a:rPr lang="en-US" sz="3000" spc="1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E-commerce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9786" y="410372"/>
            <a:ext cx="7729514" cy="955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70"/>
              </a:lnSpc>
            </a:pPr>
            <a:r>
              <a:rPr lang="en-US" b="true" sz="6409">
                <a:solidFill>
                  <a:srgbClr val="B30000"/>
                </a:solidFill>
                <a:latin typeface="Raleway Bold"/>
                <a:ea typeface="Raleway Bold"/>
                <a:cs typeface="Raleway Bold"/>
                <a:sym typeface="Raleway Bold"/>
              </a:rPr>
              <a:t>BRIEFING INICIAL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8102" y="698720"/>
            <a:ext cx="17571796" cy="969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15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Objetivo do projeto</a:t>
            </a: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b="true" sz="3000" spc="15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Finalidade:</a:t>
            </a:r>
            <a:r>
              <a:rPr lang="en-US" sz="3000" spc="1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facilitar </a:t>
            </a:r>
            <a:r>
              <a:rPr lang="en-US" sz="3000" spc="1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que a hamburgueria chegue até os clientes, divulgação da empresa e apresentação dos produtos.</a:t>
            </a: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3000" spc="1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Problema resolvido: a empresa não estava se comunicando bem com o público.</a:t>
            </a: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b="true" sz="3000" spc="150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Público-alvo</a:t>
            </a: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3000" spc="1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Foi criado para pessoas que buscam praticidade e qualidade ao pedir fast food.</a:t>
            </a: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3000" spc="1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15 a 45 anos</a:t>
            </a: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3000" spc="1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Área de atuação: alimentação</a:t>
            </a: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b="true" sz="3000" spc="150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Necessidades do projeto</a:t>
            </a: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b="true" sz="3000" spc="150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 que o site precisa ter:</a:t>
            </a:r>
            <a:r>
              <a:rPr lang="en-US" sz="3000" spc="1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Um visual simples facilitando a navegação, opção de montar o pedido de seu jeito, e realizar a compra desse pedido </a:t>
            </a: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b="true" sz="3000" spc="150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Quais funções/informações são importantes: </a:t>
            </a:r>
            <a:r>
              <a:rPr lang="en-US" sz="3000" spc="1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Finalização do pedido em poucas etapas, contatos expostos  no menu</a:t>
            </a: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b="true" sz="3000" spc="150" strike="noStrike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  <a:hlinkClick r:id="rId3" tooltip="https://www.canva.com/design/DAHKCFj0dFY/PYd_1Jxo8bs3CWnaQL2A7g/edit"/>
              </a:rPr>
              <a:t>Referências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35893" y="3384584"/>
            <a:ext cx="495300" cy="49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B3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35893" y="5762634"/>
            <a:ext cx="495300" cy="495300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B3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35893" y="7468904"/>
            <a:ext cx="495300" cy="49530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B30000"/>
            </a:solidFill>
          </p:spPr>
        </p:sp>
      </p:grpSp>
      <p:sp>
        <p:nvSpPr>
          <p:cNvPr name="AutoShape 8" id="8"/>
          <p:cNvSpPr/>
          <p:nvPr/>
        </p:nvSpPr>
        <p:spPr>
          <a:xfrm rot="0">
            <a:off x="-176147" y="-190500"/>
            <a:ext cx="451851" cy="10668000"/>
          </a:xfrm>
          <a:prstGeom prst="rect">
            <a:avLst/>
          </a:prstGeom>
          <a:solidFill>
            <a:srgbClr val="B30000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3069471" y="3298859"/>
            <a:ext cx="8153705" cy="246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 spc="13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Qual problema o site busca resolver:</a:t>
            </a:r>
          </a:p>
          <a:p>
            <a:pPr algn="l">
              <a:lnSpc>
                <a:spcPts val="3900"/>
              </a:lnSpc>
            </a:pPr>
            <a:r>
              <a:rPr lang="en-US" sz="2600" spc="13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problema que motivou esse projeto foi o estado da empresa dentro do mercado digital, onde estava indo de mal a pior, </a:t>
            </a:r>
          </a:p>
          <a:p>
            <a:pPr algn="l">
              <a:lnSpc>
                <a:spcPts val="38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33500" y="904875"/>
            <a:ext cx="1218897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17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Problema a ser resolvido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69471" y="5478789"/>
            <a:ext cx="8153705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 spc="13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Qual necessidade do usuário foi identificada:</a:t>
            </a:r>
          </a:p>
          <a:p>
            <a:pPr algn="l">
              <a:lnSpc>
                <a:spcPts val="3900"/>
              </a:lnSpc>
            </a:pPr>
            <a:r>
              <a:rPr lang="en-US" sz="2600" spc="13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empresa  necessita de uma forte visibilidade no mercado digital.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069471" y="7468904"/>
            <a:ext cx="7532965" cy="1388134"/>
            <a:chOff x="0" y="0"/>
            <a:chExt cx="10043954" cy="185084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85725"/>
              <a:ext cx="10043954" cy="614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600" spc="13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Por que esse projeto seria útil: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76401"/>
              <a:ext cx="10043954" cy="1274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600" spc="13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o projet0 irá ser util para a empresa, pois aumentará os clientes que à frequentarão.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176147" y="-190500"/>
            <a:ext cx="2363100" cy="10668000"/>
          </a:xfrm>
          <a:prstGeom prst="rect">
            <a:avLst/>
          </a:prstGeom>
          <a:solidFill>
            <a:srgbClr val="B3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2948553" y="777592"/>
            <a:ext cx="10476400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0"/>
              </a:lnSpc>
            </a:pPr>
            <a:r>
              <a:rPr lang="en-US" b="true" sz="70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DIFERENCIAL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48553" y="1997075"/>
            <a:ext cx="10476400" cy="798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15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 que o site terá de diferente:</a:t>
            </a:r>
          </a:p>
          <a:p>
            <a:pPr algn="l">
              <a:lnSpc>
                <a:spcPts val="4500"/>
              </a:lnSpc>
            </a:pPr>
            <a:r>
              <a:rPr lang="en-US" sz="3000" spc="1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Nosso site em geral é: Intuitivo, navegação simplificada (sendo mais fácil para pessoas com um certa dificuldade).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sz="3000" spc="15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Qual inovação ou melhoria será proposta:</a:t>
            </a:r>
          </a:p>
          <a:p>
            <a:pPr algn="l">
              <a:lnSpc>
                <a:spcPts val="4500"/>
              </a:lnSpc>
            </a:pPr>
            <a:r>
              <a:rPr lang="en-US" sz="3000" spc="1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Como inovação nós temos a interface mais simples, possibilitando uma navegação sem dores de cabeças e frustrações.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sz="3000" spc="15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Como a experiência do usuário será melhor:</a:t>
            </a:r>
          </a:p>
          <a:p>
            <a:pPr algn="l">
              <a:lnSpc>
                <a:spcPts val="4500"/>
              </a:lnSpc>
            </a:pPr>
            <a:r>
              <a:rPr lang="en-US" sz="3000" spc="1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 o site intuitivo e simplificado o usuário tera uma boa experiência sem frustrações e sem estresse na hora de realizar seu pedido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176147" y="-190500"/>
            <a:ext cx="451851" cy="10668000"/>
          </a:xfrm>
          <a:prstGeom prst="rect">
            <a:avLst/>
          </a:prstGeom>
          <a:solidFill>
            <a:srgbClr val="B30000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275704" y="0"/>
            <a:ext cx="8199966" cy="10287000"/>
            <a:chOff x="0" y="0"/>
            <a:chExt cx="895941" cy="11239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5941" cy="1123974"/>
            </a:xfrm>
            <a:custGeom>
              <a:avLst/>
              <a:gdLst/>
              <a:ahLst/>
              <a:cxnLst/>
              <a:rect r="r" b="b" t="t" l="l"/>
              <a:pathLst>
                <a:path h="1123974" w="895941">
                  <a:moveTo>
                    <a:pt x="0" y="0"/>
                  </a:moveTo>
                  <a:lnTo>
                    <a:pt x="895941" y="0"/>
                  </a:lnTo>
                  <a:lnTo>
                    <a:pt x="895941" y="1123974"/>
                  </a:lnTo>
                  <a:lnTo>
                    <a:pt x="0" y="1123974"/>
                  </a:lnTo>
                  <a:close/>
                </a:path>
              </a:pathLst>
            </a:custGeom>
            <a:blipFill>
              <a:blip r:embed="rId3"/>
              <a:stretch>
                <a:fillRect l="-180" t="0" r="-18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601380" y="1231515"/>
            <a:ext cx="6073504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0"/>
              </a:lnSpc>
            </a:pPr>
            <a:r>
              <a:rPr lang="en-US" b="true" sz="7000">
                <a:solidFill>
                  <a:srgbClr val="BD2640"/>
                </a:solidFill>
                <a:latin typeface="Raleway Bold"/>
                <a:ea typeface="Raleway Bold"/>
                <a:cs typeface="Raleway Bold"/>
                <a:sym typeface="Raleway Bold"/>
              </a:rPr>
              <a:t>MOODBOARD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48307" y="2760412"/>
            <a:ext cx="7689368" cy="683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15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Por que essas referências:</a:t>
            </a:r>
            <a:r>
              <a:rPr lang="en-US" sz="3000" spc="1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Escolhemos essas referências porque elas possuem uma organização visual muito limpa e moderna, facilitando a navegação do usuário dentro do site.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b="true" sz="3000" spc="15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Que sensação ou identidade elas transmitem:</a:t>
            </a:r>
            <a:r>
              <a:rPr lang="en-US" sz="3000" spc="1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Essas referências transmitem uma identidade visual moderna, artesanal e premium, fazendo a hamburgueria parecer mais profissional e marcante.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9600" y="152400"/>
            <a:ext cx="19507200" cy="3467100"/>
            <a:chOff x="0" y="0"/>
            <a:chExt cx="26009600" cy="4622800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26009600" cy="4622800"/>
            </a:xfrm>
            <a:prstGeom prst="rect">
              <a:avLst/>
            </a:prstGeom>
            <a:solidFill>
              <a:srgbClr val="B30000"/>
            </a:solidFill>
          </p:spPr>
        </p:sp>
        <p:sp>
          <p:nvSpPr>
            <p:cNvPr name="TextBox 4" id="4"/>
            <p:cNvSpPr txBox="true"/>
            <p:nvPr/>
          </p:nvSpPr>
          <p:spPr>
            <a:xfrm rot="0">
              <a:off x="2804256" y="1621367"/>
              <a:ext cx="20401088" cy="139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50"/>
                </a:lnSpc>
              </a:pPr>
              <a:r>
                <a:rPr lang="en-US" b="true" sz="7000">
                  <a:solidFill>
                    <a:srgbClr val="EFEFE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PROCESSO E MUDANÇAS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6160" y="4645547"/>
            <a:ext cx="5305889" cy="5102032"/>
            <a:chOff x="0" y="0"/>
            <a:chExt cx="7074519" cy="680271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882380"/>
              <a:ext cx="7074519" cy="4920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8"/>
                </a:lnSpc>
              </a:pPr>
              <a:r>
                <a:rPr lang="en-US" sz="2799" spc="139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Hierarquia visual,  identidade visual para alinhar com o público-alvo, incluindo a tipografia. Cores mais simples, mas q dão mais destaque para o vermelho, criando uma atenção maior. 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23387" y="-38100"/>
              <a:ext cx="6027744" cy="1431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0"/>
                </a:lnSpc>
              </a:pPr>
              <a:r>
                <a:rPr lang="en-US" sz="3400" i="true" spc="119">
                  <a:solidFill>
                    <a:srgbClr val="BD2640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O que mudou desde a ideia inicial.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0">
            <a:off x="6141682" y="4607447"/>
            <a:ext cx="76200" cy="4267200"/>
          </a:xfrm>
          <a:prstGeom prst="rect">
            <a:avLst/>
          </a:prstGeom>
          <a:solidFill>
            <a:srgbClr val="B30000"/>
          </a:solidFill>
        </p:spPr>
      </p:sp>
      <p:grpSp>
        <p:nvGrpSpPr>
          <p:cNvPr name="Group 9" id="9"/>
          <p:cNvGrpSpPr/>
          <p:nvPr/>
        </p:nvGrpSpPr>
        <p:grpSpPr>
          <a:xfrm rot="0">
            <a:off x="6423452" y="4645644"/>
            <a:ext cx="5285834" cy="4912803"/>
            <a:chOff x="0" y="0"/>
            <a:chExt cx="7047779" cy="655040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774523"/>
              <a:ext cx="7047779" cy="4775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3"/>
                </a:lnSpc>
              </a:pPr>
              <a:r>
                <a:rPr lang="en-US" sz="2715" spc="135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Houve alteração em imagens e textos, criando uma identidade e layout para o público. Houve também alteração nas cores, concretizando a identidade visual da empresa.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90511" y="-28575"/>
              <a:ext cx="6657267" cy="1023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5"/>
                </a:lnSpc>
              </a:pPr>
              <a:r>
                <a:rPr lang="en-US" sz="2428" i="true" spc="84">
                  <a:solidFill>
                    <a:srgbClr val="BD2640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Houve alteração de cores, layout, público ou identidade?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94832" y="4465503"/>
            <a:ext cx="5869231" cy="5092944"/>
            <a:chOff x="0" y="0"/>
            <a:chExt cx="7825641" cy="679059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16249"/>
              <a:ext cx="7825641" cy="4874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0"/>
                </a:lnSpc>
              </a:pPr>
              <a:r>
                <a:rPr lang="en-US" sz="2766" spc="138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A versão anterior já não agradava mais, então optamos por seguir um caminho mais sólido, vermelho e bege, apenas duas cores e uma tipografia simples para atrair o público “comum”.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28575"/>
              <a:ext cx="7215805" cy="1213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14"/>
                </a:lnSpc>
              </a:pPr>
              <a:r>
                <a:rPr lang="en-US" sz="2891" i="true" spc="101">
                  <a:solidFill>
                    <a:srgbClr val="BD2640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O que motivou essas mudanças?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0">
            <a:off x="12009082" y="4607447"/>
            <a:ext cx="76200" cy="4267200"/>
          </a:xfrm>
          <a:prstGeom prst="rect">
            <a:avLst/>
          </a:prstGeom>
          <a:solidFill>
            <a:srgbClr val="B30000"/>
          </a:solid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1378" y="5721388"/>
            <a:ext cx="15315706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sz="12000">
                <a:solidFill>
                  <a:srgbClr val="BD2640"/>
                </a:solidFill>
                <a:latin typeface="Raleway"/>
                <a:ea typeface="Raleway"/>
                <a:cs typeface="Raleway"/>
                <a:sym typeface="Raleway"/>
              </a:rPr>
              <a:t>Apresentação do site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2031" y="434129"/>
            <a:ext cx="10476400" cy="9418743"/>
            <a:chOff x="0" y="0"/>
            <a:chExt cx="13968534" cy="1255832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"/>
              <a:ext cx="13968534" cy="139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050"/>
                </a:lnSpc>
              </a:pPr>
              <a:r>
                <a:rPr lang="en-US" b="true" sz="70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PÁGINAS CRIADAS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471474"/>
              <a:ext cx="13968534" cy="908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500"/>
                </a:lnSpc>
                <a:buAutoNum type="arabicPeriod" startAt="1"/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bebidas</a:t>
              </a:r>
            </a:p>
            <a:p>
              <a:pPr algn="l" marL="647700" indent="-323850" lvl="1">
                <a:lnSpc>
                  <a:spcPts val="4500"/>
                </a:lnSpc>
                <a:buAutoNum type="arabicPeriod" startAt="1"/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brieburguer</a:t>
              </a:r>
            </a:p>
            <a:p>
              <a:pPr algn="l" marL="647700" indent="-323850" lvl="1">
                <a:lnSpc>
                  <a:spcPts val="4500"/>
                </a:lnSpc>
                <a:buAutoNum type="arabicPeriod" startAt="1"/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carnecomqueijo</a:t>
              </a:r>
            </a:p>
            <a:p>
              <a:pPr algn="l" marL="647700" indent="-323850" lvl="1">
                <a:lnSpc>
                  <a:spcPts val="4500"/>
                </a:lnSpc>
                <a:buAutoNum type="arabicPeriod" startAt="1"/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catupirycombacon</a:t>
              </a:r>
            </a:p>
            <a:p>
              <a:pPr algn="l" marL="647700" indent="-323850" lvl="1">
                <a:lnSpc>
                  <a:spcPts val="4500"/>
                </a:lnSpc>
                <a:buAutoNum type="arabicPeriod" startAt="1"/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chicken</a:t>
              </a:r>
            </a:p>
            <a:p>
              <a:pPr algn="l" marL="647700" indent="-323850" lvl="1">
                <a:lnSpc>
                  <a:spcPts val="4500"/>
                </a:lnSpc>
                <a:buAutoNum type="arabicPeriod" startAt="1"/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combos</a:t>
              </a:r>
            </a:p>
            <a:p>
              <a:pPr algn="l" marL="647700" indent="-323850" lvl="1">
                <a:lnSpc>
                  <a:spcPts val="4500"/>
                </a:lnSpc>
                <a:buAutoNum type="arabicPeriod" startAt="1"/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index</a:t>
              </a:r>
            </a:p>
            <a:p>
              <a:pPr algn="l" marL="647700" indent="-323850" lvl="1">
                <a:lnSpc>
                  <a:spcPts val="4500"/>
                </a:lnSpc>
                <a:buAutoNum type="arabicPeriod" startAt="1"/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p</a:t>
              </a: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edidos</a:t>
              </a:r>
            </a:p>
            <a:p>
              <a:pPr algn="l" marL="647700" indent="-323850" lvl="1">
                <a:lnSpc>
                  <a:spcPts val="4500"/>
                </a:lnSpc>
                <a:buAutoNum type="arabicPeriod" startAt="1"/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quatroqueijos</a:t>
              </a:r>
            </a:p>
            <a:p>
              <a:pPr algn="l" marL="647700" indent="-323850" lvl="1">
                <a:lnSpc>
                  <a:spcPts val="4500"/>
                </a:lnSpc>
                <a:buAutoNum type="arabicPeriod" startAt="1"/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queijocoalho</a:t>
              </a:r>
            </a:p>
            <a:p>
              <a:pPr algn="l" marL="647700" indent="-323850" lvl="1">
                <a:lnSpc>
                  <a:spcPts val="4500"/>
                </a:lnSpc>
                <a:buAutoNum type="arabicPeriod" startAt="1"/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quemsomos</a:t>
              </a:r>
            </a:p>
            <a:p>
              <a:pPr algn="l" marL="647700" indent="-323850" lvl="1">
                <a:lnSpc>
                  <a:spcPts val="4500"/>
                </a:lnSpc>
                <a:buAutoNum type="arabicPeriod" startAt="1"/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rodape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33096"/>
              <a:ext cx="13968534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50"/>
                </a:lnSpc>
              </a:pPr>
              <a:r>
                <a:rPr lang="en-US" sz="3400" i="true" spc="119">
                  <a:solidFill>
                    <a:srgbClr val="BD2640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Total: 12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0">
            <a:off x="-176147" y="-190500"/>
            <a:ext cx="451851" cy="10668000"/>
          </a:xfrm>
          <a:prstGeom prst="rect">
            <a:avLst/>
          </a:prstGeom>
          <a:solidFill>
            <a:srgbClr val="B30000"/>
          </a:solid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2269" y="1865826"/>
            <a:ext cx="13603633" cy="6555349"/>
            <a:chOff x="0" y="0"/>
            <a:chExt cx="18138177" cy="874046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"/>
              <a:ext cx="18138177" cy="139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050"/>
                </a:lnSpc>
              </a:pPr>
              <a:r>
                <a:rPr lang="en-US" sz="70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TIPOGRAFIA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084656"/>
              <a:ext cx="18138177" cy="769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b="true" sz="3600" spc="126">
                  <a:solidFill>
                    <a:srgbClr val="BD264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MONTSERRAT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463615"/>
              <a:ext cx="18138177" cy="527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A escolha da fonte foi feita a partir da análise da imagem que queríamos passar, ou seja, continuamos buscamos transmitir profissionalismo, porém sem ficar “elegante/ rebuscado” de mais.</a:t>
              </a:r>
            </a:p>
            <a:p>
              <a:pPr algn="l">
                <a:lnSpc>
                  <a:spcPts val="4500"/>
                </a:lnSpc>
              </a:pP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Escolhemos a </a:t>
              </a:r>
              <a:r>
                <a:rPr lang="en-US" sz="3000" spc="150">
                  <a:solidFill>
                    <a:srgbClr val="BD2640"/>
                  </a:solidFill>
                  <a:latin typeface="Raleway"/>
                  <a:ea typeface="Raleway"/>
                  <a:cs typeface="Raleway"/>
                  <a:sym typeface="Raleway"/>
                </a:rPr>
                <a:t>Montserrat</a:t>
              </a:r>
              <a:r>
                <a:rPr lang="en-US" sz="3000" spc="15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 por atender os requisitos, essa é uma fonte sem serifa e simples, logo mantendo uma aproximação com os clientes, tornando a experiência mais agradável através da padronização.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0">
            <a:off x="-176147" y="-190500"/>
            <a:ext cx="451851" cy="10668000"/>
          </a:xfrm>
          <a:prstGeom prst="rect">
            <a:avLst/>
          </a:prstGeom>
          <a:solidFill>
            <a:srgbClr val="B30000"/>
          </a:solidFill>
        </p:spPr>
      </p:sp>
      <p:sp>
        <p:nvSpPr>
          <p:cNvPr name="Freeform 7" id="7"/>
          <p:cNvSpPr/>
          <p:nvPr/>
        </p:nvSpPr>
        <p:spPr>
          <a:xfrm flipH="false" flipV="false" rot="0">
            <a:off x="15465547" y="1028700"/>
            <a:ext cx="1793753" cy="1793753"/>
          </a:xfrm>
          <a:custGeom>
            <a:avLst/>
            <a:gdLst/>
            <a:ahLst/>
            <a:cxnLst/>
            <a:rect r="r" b="b" t="t" l="l"/>
            <a:pathLst>
              <a:path h="1793753" w="1793753">
                <a:moveTo>
                  <a:pt x="0" y="0"/>
                </a:moveTo>
                <a:lnTo>
                  <a:pt x="1793753" y="0"/>
                </a:lnTo>
                <a:lnTo>
                  <a:pt x="1793753" y="1793753"/>
                </a:lnTo>
                <a:lnTo>
                  <a:pt x="0" y="17937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71985" y="1235139"/>
            <a:ext cx="1380876" cy="1380876"/>
          </a:xfrm>
          <a:custGeom>
            <a:avLst/>
            <a:gdLst/>
            <a:ahLst/>
            <a:cxnLst/>
            <a:rect r="r" b="b" t="t" l="l"/>
            <a:pathLst>
              <a:path h="1380876" w="1380876">
                <a:moveTo>
                  <a:pt x="0" y="0"/>
                </a:moveTo>
                <a:lnTo>
                  <a:pt x="1380876" y="0"/>
                </a:lnTo>
                <a:lnTo>
                  <a:pt x="1380876" y="1380876"/>
                </a:lnTo>
                <a:lnTo>
                  <a:pt x="0" y="1380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3629" y="4632251"/>
            <a:ext cx="7200937" cy="4572714"/>
            <a:chOff x="0" y="0"/>
            <a:chExt cx="1481674" cy="9408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1674" cy="940888"/>
            </a:xfrm>
            <a:custGeom>
              <a:avLst/>
              <a:gdLst/>
              <a:ahLst/>
              <a:cxnLst/>
              <a:rect r="r" b="b" t="t" l="l"/>
              <a:pathLst>
                <a:path h="940888" w="1481674">
                  <a:moveTo>
                    <a:pt x="20999" y="0"/>
                  </a:moveTo>
                  <a:lnTo>
                    <a:pt x="1460676" y="0"/>
                  </a:lnTo>
                  <a:cubicBezTo>
                    <a:pt x="1466245" y="0"/>
                    <a:pt x="1471586" y="2212"/>
                    <a:pt x="1475524" y="6150"/>
                  </a:cubicBezTo>
                  <a:cubicBezTo>
                    <a:pt x="1479462" y="10088"/>
                    <a:pt x="1481674" y="15429"/>
                    <a:pt x="1481674" y="20999"/>
                  </a:cubicBezTo>
                  <a:lnTo>
                    <a:pt x="1481674" y="919889"/>
                  </a:lnTo>
                  <a:cubicBezTo>
                    <a:pt x="1481674" y="925458"/>
                    <a:pt x="1479462" y="930799"/>
                    <a:pt x="1475524" y="934737"/>
                  </a:cubicBezTo>
                  <a:cubicBezTo>
                    <a:pt x="1471586" y="938675"/>
                    <a:pt x="1466245" y="940888"/>
                    <a:pt x="1460676" y="940888"/>
                  </a:cubicBezTo>
                  <a:lnTo>
                    <a:pt x="20999" y="940888"/>
                  </a:lnTo>
                  <a:cubicBezTo>
                    <a:pt x="15429" y="940888"/>
                    <a:pt x="10088" y="938675"/>
                    <a:pt x="6150" y="934737"/>
                  </a:cubicBezTo>
                  <a:cubicBezTo>
                    <a:pt x="2212" y="930799"/>
                    <a:pt x="0" y="925458"/>
                    <a:pt x="0" y="919889"/>
                  </a:cubicBezTo>
                  <a:lnTo>
                    <a:pt x="0" y="20999"/>
                  </a:lnTo>
                  <a:cubicBezTo>
                    <a:pt x="0" y="15429"/>
                    <a:pt x="2212" y="10088"/>
                    <a:pt x="6150" y="6150"/>
                  </a:cubicBezTo>
                  <a:cubicBezTo>
                    <a:pt x="10088" y="2212"/>
                    <a:pt x="15429" y="0"/>
                    <a:pt x="209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81674" cy="978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744483" y="6025073"/>
            <a:ext cx="3550215" cy="1787069"/>
            <a:chOff x="0" y="0"/>
            <a:chExt cx="80736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736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360">
                  <a:moveTo>
                    <a:pt x="604160" y="0"/>
                  </a:moveTo>
                  <a:cubicBezTo>
                    <a:pt x="716384" y="0"/>
                    <a:pt x="807360" y="90976"/>
                    <a:pt x="807360" y="203200"/>
                  </a:cubicBezTo>
                  <a:cubicBezTo>
                    <a:pt x="807360" y="315424"/>
                    <a:pt x="716384" y="406400"/>
                    <a:pt x="604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3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07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2738990" y="6025073"/>
            <a:ext cx="3550215" cy="1787069"/>
            <a:chOff x="0" y="0"/>
            <a:chExt cx="80736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736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360">
                  <a:moveTo>
                    <a:pt x="604160" y="0"/>
                  </a:moveTo>
                  <a:cubicBezTo>
                    <a:pt x="716384" y="0"/>
                    <a:pt x="807360" y="90976"/>
                    <a:pt x="807360" y="203200"/>
                  </a:cubicBezTo>
                  <a:cubicBezTo>
                    <a:pt x="807360" y="315424"/>
                    <a:pt x="716384" y="406400"/>
                    <a:pt x="604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DEF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07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4733497" y="6025073"/>
            <a:ext cx="3550215" cy="1787069"/>
            <a:chOff x="0" y="0"/>
            <a:chExt cx="80736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736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360">
                  <a:moveTo>
                    <a:pt x="604160" y="0"/>
                  </a:moveTo>
                  <a:cubicBezTo>
                    <a:pt x="716384" y="0"/>
                    <a:pt x="807360" y="90976"/>
                    <a:pt x="807360" y="203200"/>
                  </a:cubicBezTo>
                  <a:cubicBezTo>
                    <a:pt x="807360" y="315424"/>
                    <a:pt x="716384" y="406400"/>
                    <a:pt x="604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07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0" y="1965203"/>
            <a:ext cx="8023716" cy="206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0"/>
              </a:lnSpc>
            </a:pPr>
            <a:r>
              <a:rPr lang="en-US" b="true" sz="7000">
                <a:solidFill>
                  <a:srgbClr val="BD2640"/>
                </a:solidFill>
                <a:latin typeface="Raleway Bold"/>
                <a:ea typeface="Raleway Bold"/>
                <a:cs typeface="Raleway Bold"/>
                <a:sym typeface="Raleway Bold"/>
              </a:rPr>
              <a:t>ESCOLHA DAS CORES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4546526"/>
            <a:ext cx="6684002" cy="493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 spc="130">
                <a:solidFill>
                  <a:srgbClr val="BD2640"/>
                </a:solidFill>
                <a:latin typeface="Raleway"/>
                <a:ea typeface="Raleway"/>
                <a:cs typeface="Raleway"/>
                <a:sym typeface="Raleway"/>
              </a:rPr>
              <a:t>Vermelho Vívido- Para dar mais destaques às informações importantes (exemplo o nome dos lanches).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2600" spc="130">
                <a:solidFill>
                  <a:srgbClr val="BD2640"/>
                </a:solidFill>
                <a:latin typeface="Raleway"/>
                <a:ea typeface="Raleway"/>
                <a:cs typeface="Raleway"/>
                <a:sym typeface="Raleway"/>
              </a:rPr>
              <a:t>Cinza Claro- Usamos como padrão para todo o rodapé.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2600" spc="130">
                <a:solidFill>
                  <a:srgbClr val="BD2640"/>
                </a:solidFill>
                <a:latin typeface="Raleway"/>
                <a:ea typeface="Raleway"/>
                <a:cs typeface="Raleway"/>
                <a:sym typeface="Raleway"/>
              </a:rPr>
              <a:t>Bege- Não foi diretamente usada a cor, porém o background-image possui uma foto com essa tonalidade.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-225926" y="0"/>
            <a:ext cx="451851" cy="10668000"/>
          </a:xfrm>
          <a:prstGeom prst="rect">
            <a:avLst/>
          </a:prstGeom>
          <a:solidFill>
            <a:srgbClr val="B30000"/>
          </a:solid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778070" cy="10591800"/>
          </a:xfrm>
          <a:prstGeom prst="rect">
            <a:avLst/>
          </a:prstGeom>
          <a:solidFill>
            <a:srgbClr val="B3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6778070" y="0"/>
            <a:ext cx="11509930" cy="10287000"/>
          </a:xfrm>
          <a:custGeom>
            <a:avLst/>
            <a:gdLst/>
            <a:ahLst/>
            <a:cxnLst/>
            <a:rect r="r" b="b" t="t" l="l"/>
            <a:pathLst>
              <a:path h="10287000" w="11509930">
                <a:moveTo>
                  <a:pt x="0" y="0"/>
                </a:moveTo>
                <a:lnTo>
                  <a:pt x="11509930" y="0"/>
                </a:lnTo>
                <a:lnTo>
                  <a:pt x="115099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9243" y="4819650"/>
            <a:ext cx="406360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3000" spc="150">
                <a:solidFill>
                  <a:srgbClr val="EFEFEF"/>
                </a:solidFill>
                <a:latin typeface="Raleway Bold"/>
                <a:ea typeface="Raleway Bold"/>
                <a:cs typeface="Raleway Bold"/>
                <a:sym typeface="Raleway Bold"/>
              </a:rPr>
              <a:t>PROGRAMAÇÃO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9243" y="3777031"/>
            <a:ext cx="8633316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0"/>
              </a:lnSpc>
            </a:pPr>
            <a:r>
              <a:rPr lang="en-US" b="true" sz="70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2ª PARTE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3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4847" y="2066895"/>
            <a:ext cx="6044808" cy="6153210"/>
            <a:chOff x="0" y="0"/>
            <a:chExt cx="8059744" cy="82042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059744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0"/>
                </a:lnSpc>
              </a:pPr>
              <a:r>
                <a:rPr lang="en-US" b="true" sz="3400" spc="119">
                  <a:solidFill>
                    <a:srgbClr val="EFEFE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HTML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403430"/>
              <a:ext cx="8059744" cy="680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spc="150">
                  <a:solidFill>
                    <a:srgbClr val="EFEFEF"/>
                  </a:solidFill>
                  <a:latin typeface="Raleway"/>
                  <a:ea typeface="Raleway"/>
                  <a:cs typeface="Raleway"/>
                  <a:sym typeface="Raleway"/>
                </a:rPr>
                <a:t>Itens desalinhados</a:t>
              </a:r>
            </a:p>
            <a:p>
              <a:pPr algn="ctr">
                <a:lnSpc>
                  <a:spcPts val="4500"/>
                </a:lnSpc>
              </a:pPr>
            </a:p>
            <a:p>
              <a:pPr algn="ctr">
                <a:lnSpc>
                  <a:spcPts val="4500"/>
                </a:lnSpc>
              </a:pPr>
              <a:r>
                <a:rPr lang="en-US" sz="3000" spc="150">
                  <a:solidFill>
                    <a:srgbClr val="EFEFEF"/>
                  </a:solidFill>
                  <a:latin typeface="Raleway"/>
                  <a:ea typeface="Raleway"/>
                  <a:cs typeface="Raleway"/>
                  <a:sym typeface="Raleway"/>
                </a:rPr>
                <a:t>Links com </a:t>
              </a:r>
              <a:r>
                <a:rPr lang="en-US" sz="3000" spc="150" u="sng">
                  <a:solidFill>
                    <a:srgbClr val="EFEFEF"/>
                  </a:solidFill>
                  <a:latin typeface="Raleway"/>
                  <a:ea typeface="Raleway"/>
                  <a:cs typeface="Raleway"/>
                  <a:sym typeface="Raleway"/>
                </a:rPr>
                <a:t>sublinhados</a:t>
              </a:r>
              <a:r>
                <a:rPr lang="en-US" sz="3000" spc="150">
                  <a:solidFill>
                    <a:srgbClr val="EFEFEF"/>
                  </a:solidFill>
                  <a:latin typeface="Raleway"/>
                  <a:ea typeface="Raleway"/>
                  <a:cs typeface="Raleway"/>
                  <a:sym typeface="Raleway"/>
                </a:rPr>
                <a:t> e </a:t>
              </a:r>
              <a:r>
                <a:rPr lang="en-US" sz="3000" spc="150">
                  <a:solidFill>
                    <a:srgbClr val="1400FF"/>
                  </a:solidFill>
                  <a:latin typeface="Raleway"/>
                  <a:ea typeface="Raleway"/>
                  <a:cs typeface="Raleway"/>
                  <a:sym typeface="Raleway"/>
                </a:rPr>
                <a:t>azuis</a:t>
              </a:r>
            </a:p>
            <a:p>
              <a:pPr algn="ctr">
                <a:lnSpc>
                  <a:spcPts val="4500"/>
                </a:lnSpc>
              </a:pPr>
            </a:p>
            <a:p>
              <a:pPr algn="ctr">
                <a:lnSpc>
                  <a:spcPts val="4500"/>
                </a:lnSpc>
              </a:pPr>
              <a:r>
                <a:rPr lang="en-US" sz="3000" spc="150">
                  <a:solidFill>
                    <a:srgbClr val="EFEFEF"/>
                  </a:solidFill>
                  <a:latin typeface="Raleway"/>
                  <a:ea typeface="Raleway"/>
                  <a:cs typeface="Raleway"/>
                  <a:sym typeface="Raleway"/>
                </a:rPr>
                <a:t>Site sem movimento</a:t>
              </a:r>
            </a:p>
            <a:p>
              <a:pPr algn="ctr">
                <a:lnSpc>
                  <a:spcPts val="4500"/>
                </a:lnSpc>
              </a:pPr>
            </a:p>
            <a:p>
              <a:pPr algn="ctr">
                <a:lnSpc>
                  <a:spcPts val="4500"/>
                </a:lnSpc>
              </a:pPr>
              <a:r>
                <a:rPr lang="en-US" sz="3000" spc="150">
                  <a:solidFill>
                    <a:srgbClr val="EFEFEF"/>
                  </a:solidFill>
                  <a:latin typeface="Raleway"/>
                  <a:ea typeface="Raleway"/>
                  <a:cs typeface="Raleway"/>
                  <a:sym typeface="Raleway"/>
                </a:rPr>
                <a:t>Usavamos “gambiarras” para deixar os elementos uns ao lado dos outros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38344" y="923895"/>
            <a:ext cx="6044808" cy="8439210"/>
            <a:chOff x="0" y="0"/>
            <a:chExt cx="8059744" cy="112522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8059744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0"/>
                </a:lnSpc>
              </a:pPr>
              <a:r>
                <a:rPr lang="en-US" b="true" sz="3400" spc="119">
                  <a:solidFill>
                    <a:srgbClr val="EFEFE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HTML CSS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403430"/>
              <a:ext cx="8059744" cy="9848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spc="150">
                  <a:solidFill>
                    <a:srgbClr val="EFEFEF"/>
                  </a:solidFill>
                  <a:latin typeface="Raleway"/>
                  <a:ea typeface="Raleway"/>
                  <a:cs typeface="Raleway"/>
                  <a:sym typeface="Raleway"/>
                </a:rPr>
                <a:t>Alinhamos o que estava errado</a:t>
              </a:r>
            </a:p>
            <a:p>
              <a:pPr algn="ctr">
                <a:lnSpc>
                  <a:spcPts val="4500"/>
                </a:lnSpc>
              </a:pPr>
            </a:p>
            <a:p>
              <a:pPr algn="ctr">
                <a:lnSpc>
                  <a:spcPts val="4500"/>
                </a:lnSpc>
              </a:pPr>
              <a:r>
                <a:rPr lang="en-US" sz="3000" spc="150">
                  <a:solidFill>
                    <a:srgbClr val="EFEFEF"/>
                  </a:solidFill>
                  <a:latin typeface="Raleway"/>
                  <a:ea typeface="Raleway"/>
                  <a:cs typeface="Raleway"/>
                  <a:sym typeface="Raleway"/>
                </a:rPr>
                <a:t>Usamos “text-decoration: none” para remover o </a:t>
              </a:r>
              <a:r>
                <a:rPr lang="en-US" sz="3000" spc="150" u="sng">
                  <a:solidFill>
                    <a:srgbClr val="EFEFEF"/>
                  </a:solidFill>
                  <a:latin typeface="Raleway"/>
                  <a:ea typeface="Raleway"/>
                  <a:cs typeface="Raleway"/>
                  <a:sym typeface="Raleway"/>
                </a:rPr>
                <a:t>sublinhado</a:t>
              </a:r>
              <a:r>
                <a:rPr lang="en-US" sz="3000" spc="150">
                  <a:solidFill>
                    <a:srgbClr val="EFEFEF"/>
                  </a:solidFill>
                  <a:latin typeface="Raleway"/>
                  <a:ea typeface="Raleway"/>
                  <a:cs typeface="Raleway"/>
                  <a:sym typeface="Raleway"/>
                </a:rPr>
                <a:t> e </a:t>
              </a:r>
              <a:r>
                <a:rPr lang="en-US" sz="3000" spc="150">
                  <a:solidFill>
                    <a:srgbClr val="1400FF"/>
                  </a:solidFill>
                  <a:latin typeface="Raleway"/>
                  <a:ea typeface="Raleway"/>
                  <a:cs typeface="Raleway"/>
                  <a:sym typeface="Raleway"/>
                </a:rPr>
                <a:t>cor</a:t>
              </a:r>
            </a:p>
            <a:p>
              <a:pPr algn="ctr">
                <a:lnSpc>
                  <a:spcPts val="4500"/>
                </a:lnSpc>
              </a:pPr>
            </a:p>
            <a:p>
              <a:pPr algn="ctr">
                <a:lnSpc>
                  <a:spcPts val="4500"/>
                </a:lnSpc>
              </a:pPr>
              <a:r>
                <a:rPr lang="en-US" sz="3000" spc="150">
                  <a:solidFill>
                    <a:srgbClr val="EFEFEF"/>
                  </a:solidFill>
                  <a:latin typeface="Raleway"/>
                  <a:ea typeface="Raleway"/>
                  <a:cs typeface="Raleway"/>
                  <a:sym typeface="Raleway"/>
                </a:rPr>
                <a:t>O “hoover” possibilitou dar movimento ao site</a:t>
              </a:r>
            </a:p>
            <a:p>
              <a:pPr algn="ctr">
                <a:lnSpc>
                  <a:spcPts val="4500"/>
                </a:lnSpc>
              </a:pPr>
            </a:p>
            <a:p>
              <a:pPr algn="ctr">
                <a:lnSpc>
                  <a:spcPts val="4500"/>
                </a:lnSpc>
              </a:pPr>
              <a:r>
                <a:rPr lang="en-US" sz="3000" spc="150">
                  <a:solidFill>
                    <a:srgbClr val="EFEFEF"/>
                  </a:solidFill>
                  <a:latin typeface="Raleway"/>
                  <a:ea typeface="Raleway"/>
                  <a:cs typeface="Raleway"/>
                  <a:sym typeface="Raleway"/>
                </a:rPr>
                <a:t>“display: flex” deixou o que queriamos alinhados ao lado (como no menu) </a:t>
              </a:r>
            </a:p>
            <a:p>
              <a:pPr algn="ctr">
                <a:lnSpc>
                  <a:spcPts val="450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rot="0">
            <a:off x="9094222" y="-225262"/>
            <a:ext cx="99556" cy="4203374"/>
          </a:xfrm>
          <a:prstGeom prst="rect">
            <a:avLst/>
          </a:prstGeom>
          <a:solidFill>
            <a:srgbClr val="EFEFEF"/>
          </a:solidFill>
        </p:spPr>
      </p:sp>
      <p:grpSp>
        <p:nvGrpSpPr>
          <p:cNvPr name="Group 9" id="9"/>
          <p:cNvGrpSpPr/>
          <p:nvPr/>
        </p:nvGrpSpPr>
        <p:grpSpPr>
          <a:xfrm rot="0">
            <a:off x="7943850" y="3943350"/>
            <a:ext cx="2400300" cy="240030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</p:spPr>
        </p:sp>
      </p:grpSp>
      <p:sp>
        <p:nvSpPr>
          <p:cNvPr name="AutoShape 11" id="11"/>
          <p:cNvSpPr/>
          <p:nvPr/>
        </p:nvSpPr>
        <p:spPr>
          <a:xfrm rot="0">
            <a:off x="9094222" y="6308888"/>
            <a:ext cx="99556" cy="4203374"/>
          </a:xfrm>
          <a:prstGeom prst="rect">
            <a:avLst/>
          </a:prstGeom>
          <a:solidFill>
            <a:srgbClr val="EFEFEF"/>
          </a:solidFill>
        </p:spPr>
      </p:sp>
      <p:sp>
        <p:nvSpPr>
          <p:cNvPr name="Freeform 12" id="12"/>
          <p:cNvSpPr/>
          <p:nvPr/>
        </p:nvSpPr>
        <p:spPr>
          <a:xfrm flipH="false" flipV="false" rot="0">
            <a:off x="8591612" y="4541334"/>
            <a:ext cx="1204332" cy="1204332"/>
          </a:xfrm>
          <a:custGeom>
            <a:avLst/>
            <a:gdLst/>
            <a:ahLst/>
            <a:cxnLst/>
            <a:rect r="r" b="b" t="t" l="l"/>
            <a:pathLst>
              <a:path h="1204332" w="1204332">
                <a:moveTo>
                  <a:pt x="0" y="0"/>
                </a:moveTo>
                <a:lnTo>
                  <a:pt x="1204332" y="0"/>
                </a:lnTo>
                <a:lnTo>
                  <a:pt x="1204332" y="1204332"/>
                </a:lnTo>
                <a:lnTo>
                  <a:pt x="0" y="1204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91612" y="4517706"/>
            <a:ext cx="1204332" cy="107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9"/>
              </a:lnSpc>
              <a:spcBef>
                <a:spcPct val="0"/>
              </a:spcBef>
            </a:pPr>
            <a:r>
              <a:rPr lang="en-US" sz="5899" spc="294">
                <a:solidFill>
                  <a:srgbClr val="BD2640"/>
                </a:solidFill>
                <a:latin typeface="Raleway"/>
                <a:ea typeface="Raleway"/>
                <a:cs typeface="Raleway"/>
                <a:sym typeface="Raleway"/>
              </a:rPr>
              <a:t>x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5563850" y="-190500"/>
            <a:ext cx="2950923" cy="10668000"/>
          </a:xfrm>
          <a:prstGeom prst="rect">
            <a:avLst/>
          </a:prstGeom>
          <a:solidFill>
            <a:srgbClr val="B3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6337581" y="858782"/>
            <a:ext cx="1403461" cy="1403461"/>
          </a:xfrm>
          <a:custGeom>
            <a:avLst/>
            <a:gdLst/>
            <a:ahLst/>
            <a:cxnLst/>
            <a:rect r="r" b="b" t="t" l="l"/>
            <a:pathLst>
              <a:path h="1403461" w="1403461">
                <a:moveTo>
                  <a:pt x="0" y="0"/>
                </a:moveTo>
                <a:lnTo>
                  <a:pt x="1403461" y="0"/>
                </a:lnTo>
                <a:lnTo>
                  <a:pt x="1403461" y="1403461"/>
                </a:lnTo>
                <a:lnTo>
                  <a:pt x="0" y="14034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53663" y="1174864"/>
            <a:ext cx="771297" cy="771297"/>
          </a:xfrm>
          <a:custGeom>
            <a:avLst/>
            <a:gdLst/>
            <a:ahLst/>
            <a:cxnLst/>
            <a:rect r="r" b="b" t="t" l="l"/>
            <a:pathLst>
              <a:path h="771297" w="771297">
                <a:moveTo>
                  <a:pt x="0" y="0"/>
                </a:moveTo>
                <a:lnTo>
                  <a:pt x="771297" y="0"/>
                </a:lnTo>
                <a:lnTo>
                  <a:pt x="771297" y="771297"/>
                </a:lnTo>
                <a:lnTo>
                  <a:pt x="0" y="771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092325"/>
            <a:ext cx="4181775" cy="7165975"/>
            <a:chOff x="0" y="0"/>
            <a:chExt cx="812800" cy="1392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392830"/>
            </a:xfrm>
            <a:custGeom>
              <a:avLst/>
              <a:gdLst/>
              <a:ahLst/>
              <a:cxnLst/>
              <a:rect r="r" b="b" t="t" l="l"/>
              <a:pathLst>
                <a:path h="139283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92830"/>
                  </a:lnTo>
                  <a:lnTo>
                    <a:pt x="0" y="1392830"/>
                  </a:lnTo>
                  <a:close/>
                </a:path>
              </a:pathLst>
            </a:custGeom>
            <a:blipFill>
              <a:blip r:embed="rId5"/>
              <a:stretch>
                <a:fillRect l="0" t="-1274" r="0" b="-127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048328" y="2306320"/>
            <a:ext cx="4181775" cy="6737985"/>
            <a:chOff x="0" y="0"/>
            <a:chExt cx="812800" cy="13096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309643"/>
            </a:xfrm>
            <a:custGeom>
              <a:avLst/>
              <a:gdLst/>
              <a:ahLst/>
              <a:cxnLst/>
              <a:rect r="r" b="b" t="t" l="l"/>
              <a:pathLst>
                <a:path h="130964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09643"/>
                  </a:lnTo>
                  <a:lnTo>
                    <a:pt x="0" y="1309643"/>
                  </a:lnTo>
                  <a:close/>
                </a:path>
              </a:pathLst>
            </a:custGeom>
            <a:blipFill>
              <a:blip r:embed="rId6"/>
              <a:stretch>
                <a:fillRect l="-113" t="0" r="-11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067956" y="2262243"/>
            <a:ext cx="4181775" cy="6737985"/>
            <a:chOff x="0" y="0"/>
            <a:chExt cx="812800" cy="13096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309643"/>
            </a:xfrm>
            <a:custGeom>
              <a:avLst/>
              <a:gdLst/>
              <a:ahLst/>
              <a:cxnLst/>
              <a:rect r="r" b="b" t="t" l="l"/>
              <a:pathLst>
                <a:path h="130964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09643"/>
                  </a:lnTo>
                  <a:lnTo>
                    <a:pt x="0" y="1309643"/>
                  </a:lnTo>
                  <a:close/>
                </a:path>
              </a:pathLst>
            </a:custGeom>
            <a:blipFill>
              <a:blip r:embed="rId7"/>
              <a:stretch>
                <a:fillRect l="-2288" t="-4490" r="-18889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1047750"/>
            <a:ext cx="14391555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0"/>
              </a:lnSpc>
            </a:pPr>
            <a:r>
              <a:rPr lang="en-US" b="true" sz="70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WIREFRAME MÉDIA RESOLUÇÃO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5563850" y="-190500"/>
            <a:ext cx="2950923" cy="10668000"/>
          </a:xfrm>
          <a:prstGeom prst="rect">
            <a:avLst/>
          </a:prstGeom>
          <a:solidFill>
            <a:srgbClr val="B3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6337581" y="858782"/>
            <a:ext cx="1403461" cy="1403461"/>
          </a:xfrm>
          <a:custGeom>
            <a:avLst/>
            <a:gdLst/>
            <a:ahLst/>
            <a:cxnLst/>
            <a:rect r="r" b="b" t="t" l="l"/>
            <a:pathLst>
              <a:path h="1403461" w="1403461">
                <a:moveTo>
                  <a:pt x="0" y="0"/>
                </a:moveTo>
                <a:lnTo>
                  <a:pt x="1403461" y="0"/>
                </a:lnTo>
                <a:lnTo>
                  <a:pt x="1403461" y="1403461"/>
                </a:lnTo>
                <a:lnTo>
                  <a:pt x="0" y="14034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53663" y="1174864"/>
            <a:ext cx="771297" cy="771297"/>
          </a:xfrm>
          <a:custGeom>
            <a:avLst/>
            <a:gdLst/>
            <a:ahLst/>
            <a:cxnLst/>
            <a:rect r="r" b="b" t="t" l="l"/>
            <a:pathLst>
              <a:path h="771297" w="771297">
                <a:moveTo>
                  <a:pt x="0" y="0"/>
                </a:moveTo>
                <a:lnTo>
                  <a:pt x="771297" y="0"/>
                </a:lnTo>
                <a:lnTo>
                  <a:pt x="771297" y="771297"/>
                </a:lnTo>
                <a:lnTo>
                  <a:pt x="0" y="771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5881" y="2520315"/>
            <a:ext cx="5356192" cy="6737985"/>
            <a:chOff x="0" y="0"/>
            <a:chExt cx="1041068" cy="1309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1068" cy="1309643"/>
            </a:xfrm>
            <a:custGeom>
              <a:avLst/>
              <a:gdLst/>
              <a:ahLst/>
              <a:cxnLst/>
              <a:rect r="r" b="b" t="t" l="l"/>
              <a:pathLst>
                <a:path h="1309643" w="1041068">
                  <a:moveTo>
                    <a:pt x="0" y="0"/>
                  </a:moveTo>
                  <a:lnTo>
                    <a:pt x="1041068" y="0"/>
                  </a:lnTo>
                  <a:lnTo>
                    <a:pt x="1041068" y="1309643"/>
                  </a:lnTo>
                  <a:lnTo>
                    <a:pt x="0" y="1309643"/>
                  </a:lnTo>
                  <a:close/>
                </a:path>
              </a:pathLst>
            </a:custGeom>
            <a:blipFill>
              <a:blip r:embed="rId5"/>
              <a:stretch>
                <a:fillRect l="-16729" t="0" r="-1371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43639" y="2520315"/>
            <a:ext cx="5508431" cy="6737985"/>
            <a:chOff x="0" y="0"/>
            <a:chExt cx="1070658" cy="13096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0658" cy="1309643"/>
            </a:xfrm>
            <a:custGeom>
              <a:avLst/>
              <a:gdLst/>
              <a:ahLst/>
              <a:cxnLst/>
              <a:rect r="r" b="b" t="t" l="l"/>
              <a:pathLst>
                <a:path h="1309643" w="1070658">
                  <a:moveTo>
                    <a:pt x="0" y="0"/>
                  </a:moveTo>
                  <a:lnTo>
                    <a:pt x="1070658" y="0"/>
                  </a:lnTo>
                  <a:lnTo>
                    <a:pt x="1070658" y="1309643"/>
                  </a:lnTo>
                  <a:lnTo>
                    <a:pt x="0" y="1309643"/>
                  </a:lnTo>
                  <a:close/>
                </a:path>
              </a:pathLst>
            </a:custGeom>
            <a:blipFill>
              <a:blip r:embed="rId6"/>
              <a:stretch>
                <a:fillRect l="-4424" t="0" r="-657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047750"/>
            <a:ext cx="14391555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0"/>
              </a:lnSpc>
            </a:pPr>
            <a:r>
              <a:rPr lang="en-US" b="true" sz="70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WIREFRAME MÉDIA RESOLUÇÃO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5563850" y="-190500"/>
            <a:ext cx="2950923" cy="10668000"/>
          </a:xfrm>
          <a:prstGeom prst="rect">
            <a:avLst/>
          </a:prstGeom>
          <a:solidFill>
            <a:srgbClr val="B3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6337581" y="858782"/>
            <a:ext cx="1403461" cy="1403461"/>
          </a:xfrm>
          <a:custGeom>
            <a:avLst/>
            <a:gdLst/>
            <a:ahLst/>
            <a:cxnLst/>
            <a:rect r="r" b="b" t="t" l="l"/>
            <a:pathLst>
              <a:path h="1403461" w="1403461">
                <a:moveTo>
                  <a:pt x="0" y="0"/>
                </a:moveTo>
                <a:lnTo>
                  <a:pt x="1403461" y="0"/>
                </a:lnTo>
                <a:lnTo>
                  <a:pt x="1403461" y="1403461"/>
                </a:lnTo>
                <a:lnTo>
                  <a:pt x="0" y="14034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53663" y="1174864"/>
            <a:ext cx="771297" cy="771297"/>
          </a:xfrm>
          <a:custGeom>
            <a:avLst/>
            <a:gdLst/>
            <a:ahLst/>
            <a:cxnLst/>
            <a:rect r="r" b="b" t="t" l="l"/>
            <a:pathLst>
              <a:path h="771297" w="771297">
                <a:moveTo>
                  <a:pt x="0" y="0"/>
                </a:moveTo>
                <a:lnTo>
                  <a:pt x="771297" y="0"/>
                </a:lnTo>
                <a:lnTo>
                  <a:pt x="771297" y="771297"/>
                </a:lnTo>
                <a:lnTo>
                  <a:pt x="0" y="771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224478" y="2520315"/>
            <a:ext cx="5377940" cy="6737985"/>
            <a:chOff x="0" y="0"/>
            <a:chExt cx="1045295" cy="1309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5295" cy="1309643"/>
            </a:xfrm>
            <a:custGeom>
              <a:avLst/>
              <a:gdLst/>
              <a:ahLst/>
              <a:cxnLst/>
              <a:rect r="r" b="b" t="t" l="l"/>
              <a:pathLst>
                <a:path h="1309643" w="1045295">
                  <a:moveTo>
                    <a:pt x="0" y="0"/>
                  </a:moveTo>
                  <a:lnTo>
                    <a:pt x="1045295" y="0"/>
                  </a:lnTo>
                  <a:lnTo>
                    <a:pt x="1045295" y="1309643"/>
                  </a:lnTo>
                  <a:lnTo>
                    <a:pt x="0" y="1309643"/>
                  </a:lnTo>
                  <a:close/>
                </a:path>
              </a:pathLst>
            </a:custGeom>
            <a:blipFill>
              <a:blip r:embed="rId5"/>
              <a:stretch>
                <a:fillRect l="-8640" t="0" r="-864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351551" y="2520315"/>
            <a:ext cx="4234063" cy="6737985"/>
          </a:xfrm>
          <a:custGeom>
            <a:avLst/>
            <a:gdLst/>
            <a:ahLst/>
            <a:cxnLst/>
            <a:rect r="r" b="b" t="t" l="l"/>
            <a:pathLst>
              <a:path h="6737985" w="4234063">
                <a:moveTo>
                  <a:pt x="0" y="0"/>
                </a:moveTo>
                <a:lnTo>
                  <a:pt x="4234062" y="0"/>
                </a:lnTo>
                <a:lnTo>
                  <a:pt x="4234062" y="6737985"/>
                </a:lnTo>
                <a:lnTo>
                  <a:pt x="0" y="67379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047750"/>
            <a:ext cx="14391555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0"/>
              </a:lnSpc>
            </a:pPr>
            <a:r>
              <a:rPr lang="en-US" b="true" sz="70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WIREFRAME MÉDIA RESOLUÇÃO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74897" y="8213725"/>
            <a:ext cx="13586316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0"/>
              </a:lnSpc>
            </a:pPr>
            <a:r>
              <a:rPr lang="en-US" sz="70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OBRIGADO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0" y="-190500"/>
            <a:ext cx="2628900" cy="10668000"/>
          </a:xfrm>
          <a:prstGeom prst="rect">
            <a:avLst/>
          </a:prstGeom>
          <a:solidFill>
            <a:srgbClr val="B30000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DAHJlDcIO6c</dc:identifier>
  <dcterms:modified xsi:type="dcterms:W3CDTF">2011-08-01T06:04:30Z</dcterms:modified>
  <cp:revision>1</cp:revision>
  <dc:title>Projeto Integrador Arte na Chapa</dc:title>
</cp:coreProperties>
</file>